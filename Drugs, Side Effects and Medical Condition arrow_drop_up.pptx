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84963C-3658-4BD9-A715-B32E739359CF}" v="13" dt="2026-02-07T14:51:24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yatri Kulkarni" userId="8bc8f7e35bece5ad" providerId="LiveId" clId="{6F5AA96B-57FA-48B6-8AB8-E8FA0E652726}"/>
    <pc:docChg chg="addSld modSld">
      <pc:chgData name="Gayatri Kulkarni" userId="8bc8f7e35bece5ad" providerId="LiveId" clId="{6F5AA96B-57FA-48B6-8AB8-E8FA0E652726}" dt="2026-02-07T14:52:25.821" v="82" actId="20577"/>
      <pc:docMkLst>
        <pc:docMk/>
      </pc:docMkLst>
      <pc:sldChg chg="modSp">
        <pc:chgData name="Gayatri Kulkarni" userId="8bc8f7e35bece5ad" providerId="LiveId" clId="{6F5AA96B-57FA-48B6-8AB8-E8FA0E652726}" dt="2026-02-07T14:38:34.122" v="0"/>
        <pc:sldMkLst>
          <pc:docMk/>
          <pc:sldMk cId="2198327086" sldId="256"/>
        </pc:sldMkLst>
        <pc:spChg chg="mod">
          <ac:chgData name="Gayatri Kulkarni" userId="8bc8f7e35bece5ad" providerId="LiveId" clId="{6F5AA96B-57FA-48B6-8AB8-E8FA0E652726}" dt="2026-02-07T14:38:34.122" v="0"/>
          <ac:spMkLst>
            <pc:docMk/>
            <pc:sldMk cId="2198327086" sldId="256"/>
            <ac:spMk id="2" creationId="{7AED9B12-658A-C758-0701-F4C578B25245}"/>
          </ac:spMkLst>
        </pc:spChg>
      </pc:sldChg>
      <pc:sldChg chg="addSp modSp mod">
        <pc:chgData name="Gayatri Kulkarni" userId="8bc8f7e35bece5ad" providerId="LiveId" clId="{6F5AA96B-57FA-48B6-8AB8-E8FA0E652726}" dt="2026-02-07T14:48:20.114" v="5" actId="1076"/>
        <pc:sldMkLst>
          <pc:docMk/>
          <pc:sldMk cId="9653704" sldId="260"/>
        </pc:sldMkLst>
        <pc:picChg chg="add mod">
          <ac:chgData name="Gayatri Kulkarni" userId="8bc8f7e35bece5ad" providerId="LiveId" clId="{6F5AA96B-57FA-48B6-8AB8-E8FA0E652726}" dt="2026-02-07T14:48:20.114" v="5" actId="1076"/>
          <ac:picMkLst>
            <pc:docMk/>
            <pc:sldMk cId="9653704" sldId="260"/>
            <ac:picMk id="4" creationId="{93BA89CA-726C-05AE-7970-DF6B9E7CEB07}"/>
          </ac:picMkLst>
        </pc:picChg>
      </pc:sldChg>
      <pc:sldChg chg="addSp modSp mod">
        <pc:chgData name="Gayatri Kulkarni" userId="8bc8f7e35bece5ad" providerId="LiveId" clId="{6F5AA96B-57FA-48B6-8AB8-E8FA0E652726}" dt="2026-02-07T14:49:33.265" v="22" actId="14100"/>
        <pc:sldMkLst>
          <pc:docMk/>
          <pc:sldMk cId="2947351324" sldId="261"/>
        </pc:sldMkLst>
        <pc:spChg chg="mod">
          <ac:chgData name="Gayatri Kulkarni" userId="8bc8f7e35bece5ad" providerId="LiveId" clId="{6F5AA96B-57FA-48B6-8AB8-E8FA0E652726}" dt="2026-02-07T14:48:55.353" v="11" actId="14100"/>
          <ac:spMkLst>
            <pc:docMk/>
            <pc:sldMk cId="2947351324" sldId="261"/>
            <ac:spMk id="3" creationId="{A07F85DE-6D95-A7A2-1815-672D912C26B4}"/>
          </ac:spMkLst>
        </pc:spChg>
        <pc:picChg chg="add mod">
          <ac:chgData name="Gayatri Kulkarni" userId="8bc8f7e35bece5ad" providerId="LiveId" clId="{6F5AA96B-57FA-48B6-8AB8-E8FA0E652726}" dt="2026-02-07T14:49:33.265" v="22" actId="14100"/>
          <ac:picMkLst>
            <pc:docMk/>
            <pc:sldMk cId="2947351324" sldId="261"/>
            <ac:picMk id="4" creationId="{48944D3C-3DE1-7543-F56C-8F6E5EF977AF}"/>
          </ac:picMkLst>
        </pc:picChg>
        <pc:picChg chg="add mod">
          <ac:chgData name="Gayatri Kulkarni" userId="8bc8f7e35bece5ad" providerId="LiveId" clId="{6F5AA96B-57FA-48B6-8AB8-E8FA0E652726}" dt="2026-02-07T14:48:55.353" v="11" actId="14100"/>
          <ac:picMkLst>
            <pc:docMk/>
            <pc:sldMk cId="2947351324" sldId="261"/>
            <ac:picMk id="1026" creationId="{51B4C935-3D95-3331-2602-04C4D7A30C72}"/>
          </ac:picMkLst>
        </pc:picChg>
      </pc:sldChg>
      <pc:sldChg chg="addSp modSp mod">
        <pc:chgData name="Gayatri Kulkarni" userId="8bc8f7e35bece5ad" providerId="LiveId" clId="{6F5AA96B-57FA-48B6-8AB8-E8FA0E652726}" dt="2026-02-07T14:50:11.614" v="30" actId="14100"/>
        <pc:sldMkLst>
          <pc:docMk/>
          <pc:sldMk cId="3824768966" sldId="262"/>
        </pc:sldMkLst>
        <pc:picChg chg="add mod">
          <ac:chgData name="Gayatri Kulkarni" userId="8bc8f7e35bece5ad" providerId="LiveId" clId="{6F5AA96B-57FA-48B6-8AB8-E8FA0E652726}" dt="2026-02-07T14:50:11.614" v="30" actId="14100"/>
          <ac:picMkLst>
            <pc:docMk/>
            <pc:sldMk cId="3824768966" sldId="262"/>
            <ac:picMk id="4" creationId="{138BE566-2F62-92B3-8778-2D4F8F7DC815}"/>
          </ac:picMkLst>
        </pc:picChg>
      </pc:sldChg>
      <pc:sldChg chg="addSp modSp mod">
        <pc:chgData name="Gayatri Kulkarni" userId="8bc8f7e35bece5ad" providerId="LiveId" clId="{6F5AA96B-57FA-48B6-8AB8-E8FA0E652726}" dt="2026-02-07T14:50:52.783" v="35" actId="1076"/>
        <pc:sldMkLst>
          <pc:docMk/>
          <pc:sldMk cId="3457013015" sldId="263"/>
        </pc:sldMkLst>
        <pc:picChg chg="add mod">
          <ac:chgData name="Gayatri Kulkarni" userId="8bc8f7e35bece5ad" providerId="LiveId" clId="{6F5AA96B-57FA-48B6-8AB8-E8FA0E652726}" dt="2026-02-07T14:50:52.783" v="35" actId="1076"/>
          <ac:picMkLst>
            <pc:docMk/>
            <pc:sldMk cId="3457013015" sldId="263"/>
            <ac:picMk id="4" creationId="{9517B7DA-8BBE-03E7-6DB6-5CF440355E00}"/>
          </ac:picMkLst>
        </pc:picChg>
      </pc:sldChg>
      <pc:sldChg chg="addSp delSp modSp new mod">
        <pc:chgData name="Gayatri Kulkarni" userId="8bc8f7e35bece5ad" providerId="LiveId" clId="{6F5AA96B-57FA-48B6-8AB8-E8FA0E652726}" dt="2026-02-07T14:52:25.821" v="82" actId="20577"/>
        <pc:sldMkLst>
          <pc:docMk/>
          <pc:sldMk cId="1955201343" sldId="266"/>
        </pc:sldMkLst>
        <pc:spChg chg="mod">
          <ac:chgData name="Gayatri Kulkarni" userId="8bc8f7e35bece5ad" providerId="LiveId" clId="{6F5AA96B-57FA-48B6-8AB8-E8FA0E652726}" dt="2026-02-07T14:52:25.821" v="82" actId="20577"/>
          <ac:spMkLst>
            <pc:docMk/>
            <pc:sldMk cId="1955201343" sldId="266"/>
            <ac:spMk id="2" creationId="{A17091B9-8F87-05D2-DB87-D8D92433D455}"/>
          </ac:spMkLst>
        </pc:spChg>
        <pc:spChg chg="del">
          <ac:chgData name="Gayatri Kulkarni" userId="8bc8f7e35bece5ad" providerId="LiveId" clId="{6F5AA96B-57FA-48B6-8AB8-E8FA0E652726}" dt="2026-02-07T14:51:24.939" v="37"/>
          <ac:spMkLst>
            <pc:docMk/>
            <pc:sldMk cId="1955201343" sldId="266"/>
            <ac:spMk id="3" creationId="{134ED124-10CD-9099-2414-17BABBFCAC55}"/>
          </ac:spMkLst>
        </pc:spChg>
        <pc:picChg chg="add mod">
          <ac:chgData name="Gayatri Kulkarni" userId="8bc8f7e35bece5ad" providerId="LiveId" clId="{6F5AA96B-57FA-48B6-8AB8-E8FA0E652726}" dt="2026-02-07T14:51:27.629" v="38" actId="1076"/>
          <ac:picMkLst>
            <pc:docMk/>
            <pc:sldMk cId="1955201343" sldId="266"/>
            <ac:picMk id="4" creationId="{46186F38-0F47-E000-0BEA-0B99FCD58B0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7F05D-436E-1BC6-ED83-F518C5B80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0AAD9-92C0-F518-161C-230072E52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A61E-1478-D1DF-CFDD-783B14431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13C9-5C09-4B61-916A-166019800EE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E7059-D8AE-7CAD-FF0D-F51749A7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CDB32-0BD2-A949-92D1-DD3AB4BFB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A5D2-EC16-41A9-BFDF-85B3F883E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56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2482-C570-FC74-20F6-D7B8887F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D2605-C793-74C9-E262-789B80195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A41A-8A9C-D5C6-115C-2DAD25592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13C9-5C09-4B61-916A-166019800EE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3C09B-7B9F-330B-EEF3-31F839EF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F225D-90F8-CA75-6FBD-B7F3A81AF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A5D2-EC16-41A9-BFDF-85B3F883E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602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EC24-700E-1324-91E2-A0BA89A95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2EE0B-73ED-EB27-F20D-F495211BB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4B984-A94D-8A87-CC9A-9FA39E59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13C9-5C09-4B61-916A-166019800EE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00584-7B65-5A1C-2C44-0115A0DF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31CCA-B1DD-6AA1-07E3-2FDE4C4D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A5D2-EC16-41A9-BFDF-85B3F883E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42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B85B-F92C-81D8-B4E2-EAC97739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ED92-B226-EB8A-47A2-680852D16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A7EDC-413D-4F7E-9753-8081A3D7F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FC69E-7896-9003-AC5A-0B40CB202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13C9-5C09-4B61-916A-166019800EE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DB888-E1A0-D275-BDAB-570CAF48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C2ADE-E7D3-6544-D0AC-832AF1280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A5D2-EC16-41A9-BFDF-85B3F883E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2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F25D-1327-951C-A7E6-83202CC6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076F8-29D2-A206-4E0A-31F2D5B9E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0BDBE-4627-7F9C-BEAD-DAA529331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9A7D5-3A2F-E8B9-C5B8-BA6BB8AAC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37338-1B4A-D8CD-D8C0-C1DD0FA95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CC5345-AF83-4BA9-CDC9-8A233210E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13C9-5C09-4B61-916A-166019800EE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24706-4205-6A6D-95CA-10A3923A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9F1CAC-E67C-B154-CAAA-065016CA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A5D2-EC16-41A9-BFDF-85B3F883E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751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12FCD-FBD8-FC49-FB93-863B8124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5BDE5-A513-20B3-C544-83085BF02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13C9-5C09-4B61-916A-166019800EE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F168D-7E7A-6935-671A-2E33F2AD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EC9B38-E872-A3B3-829B-940A5D48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A5D2-EC16-41A9-BFDF-85B3F883E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8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012069-D3E4-FCAB-6D01-857E02B4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13C9-5C09-4B61-916A-166019800EE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E6DDF-C909-AFCC-22F6-50EDD344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C6FD3-6EF1-CC71-3F46-437BCAF7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A5D2-EC16-41A9-BFDF-85B3F883E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789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90D85-987A-3655-5D0D-056E423C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2949B-8DCC-69C1-2B06-BE606AA30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0170E-1702-E720-A9F9-F1A1CF6A5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F5D7B-C079-C6F2-83EE-DF583667C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13C9-5C09-4B61-916A-166019800EE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E4A4C-8AE3-1EE3-67C0-6F456424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31D55-3C7F-3332-4A8E-678399E5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A5D2-EC16-41A9-BFDF-85B3F883E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010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4A79-2BC5-B5A4-FD71-B035B8678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A1CA2-0260-C0EE-61A2-3797F4E0B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9F74B-5470-11CE-7141-FB3AA858E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B53EA-6DD4-571E-1469-EE2300552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13C9-5C09-4B61-916A-166019800EE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9F4A6-0783-68CC-E46A-AAF26F5E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CF937-C499-0A0F-B620-AD8F2EB61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A5D2-EC16-41A9-BFDF-85B3F883E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492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42800-44B7-3542-9407-667AD9CF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A5D20-733F-C821-5D04-492701B2A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3526A-8C6B-4F42-DADE-4E59FF225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13C9-5C09-4B61-916A-166019800EE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0B-D316-4F06-931A-2B055BA2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64301-85F2-D488-D576-1F81B23C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A5D2-EC16-41A9-BFDF-85B3F883E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3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5DBF60-D685-FE6F-EB0F-D927B0248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C6427E-DE67-4258-F123-E6CB12180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5B43F-470F-3C75-098E-D7AAD111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13C9-5C09-4B61-916A-166019800EE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3F186-3596-E074-EC1E-715C6E87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B6225-01BA-F70C-3802-50332AE2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A5D2-EC16-41A9-BFDF-85B3F883E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205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EE8F0-BC90-96BE-064E-0C61AE66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EA6B4-F7EA-2A15-DB8E-BC48341FE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59839-F724-715B-A22E-D3FD63DE4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B13C9-5C09-4B61-916A-166019800EE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183B2-F4E2-4140-6B5F-E249AC4E7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89483-5BC0-6251-1DD3-4AC227D12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1A5D2-EC16-41A9-BFDF-85B3F883E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05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9B12-658A-C758-0701-F4C578B252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Drugs, Side Effects and Medical Condition </a:t>
            </a:r>
            <a:r>
              <a:rPr lang="en-US"/>
              <a:t>arrow_drop_up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0D410-19C0-59E0-8710-F821A6E6A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9320981" cy="2631614"/>
          </a:xfrm>
        </p:spPr>
        <p:txBody>
          <a:bodyPr/>
          <a:lstStyle/>
          <a:p>
            <a:r>
              <a:rPr lang="en-IN" dirty="0"/>
              <a:t>Exploratory Data Analysis &amp; Visualization using Python</a:t>
            </a:r>
          </a:p>
          <a:p>
            <a:r>
              <a:rPr lang="en-IN" b="1" dirty="0"/>
              <a:t>Domain:</a:t>
            </a:r>
            <a:r>
              <a:rPr lang="en-IN" dirty="0"/>
              <a:t> Healthcare Analytics / Pharmacovigilance</a:t>
            </a:r>
            <a:br>
              <a:rPr lang="en-IN" dirty="0"/>
            </a:br>
            <a:r>
              <a:rPr lang="en-IN" b="1" dirty="0"/>
              <a:t>Tools:</a:t>
            </a:r>
            <a:r>
              <a:rPr lang="en-IN" dirty="0"/>
              <a:t> Python, Pandas, Matplotlib, Seaborn</a:t>
            </a:r>
            <a:br>
              <a:rPr lang="en-IN" dirty="0"/>
            </a:br>
            <a:r>
              <a:rPr lang="en-IN" b="1" dirty="0"/>
              <a:t>Dataset:</a:t>
            </a:r>
            <a:r>
              <a:rPr lang="en-IN" dirty="0"/>
              <a:t> Drugs.com Side Effects Dataset </a:t>
            </a:r>
          </a:p>
          <a:p>
            <a:r>
              <a:rPr lang="en-IN" dirty="0"/>
              <a:t>Prepared by : Gayatri Raghunath Kulkarni</a:t>
            </a:r>
          </a:p>
          <a:p>
            <a:r>
              <a:rPr lang="en-IN" dirty="0"/>
              <a:t>UNID: UMID05112569400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327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084B-E9D6-FD4E-7ED1-F9F64500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D951A-10B9-396E-0105-BD960E9BB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Goal of the Project</a:t>
            </a:r>
          </a:p>
          <a:p>
            <a:r>
              <a:rPr lang="en-US" dirty="0"/>
              <a:t>The objective of this project is to analyze:</a:t>
            </a:r>
          </a:p>
          <a:p>
            <a:r>
              <a:rPr lang="en-US" dirty="0"/>
              <a:t>Drugs used for different medical conditions</a:t>
            </a:r>
          </a:p>
          <a:p>
            <a:r>
              <a:rPr lang="en-US" dirty="0"/>
              <a:t>Common side effects associated with drugs</a:t>
            </a:r>
          </a:p>
          <a:p>
            <a:r>
              <a:rPr lang="en-US" dirty="0"/>
              <a:t>Drug safety indicators (pregnancy category, CSA, alcohol interaction)</a:t>
            </a:r>
          </a:p>
          <a:p>
            <a:r>
              <a:rPr lang="en-US" dirty="0"/>
              <a:t>User feedback through ratings and reviews</a:t>
            </a:r>
          </a:p>
          <a:p>
            <a:r>
              <a:rPr lang="en-US" dirty="0"/>
              <a:t>This helps in identifying patterns useful for healthcare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709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79B99-0378-5F28-D622-DAB01111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51D6D-22F0-DE14-A316-7761A162B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Dataset Information</a:t>
            </a:r>
          </a:p>
          <a:p>
            <a:r>
              <a:rPr lang="en-IN" dirty="0"/>
              <a:t>Source: Drugs.com</a:t>
            </a:r>
          </a:p>
          <a:p>
            <a:r>
              <a:rPr lang="en-IN" dirty="0"/>
              <a:t>Total Records: </a:t>
            </a:r>
            <a:r>
              <a:rPr lang="en-IN" b="1" dirty="0"/>
              <a:t>2931 drugs</a:t>
            </a:r>
            <a:endParaRPr lang="en-IN" dirty="0"/>
          </a:p>
          <a:p>
            <a:r>
              <a:rPr lang="en-IN" dirty="0"/>
              <a:t>Total Features: </a:t>
            </a:r>
            <a:r>
              <a:rPr lang="en-IN" b="1" dirty="0"/>
              <a:t>17 columns</a:t>
            </a:r>
            <a:endParaRPr lang="en-IN" dirty="0"/>
          </a:p>
          <a:p>
            <a:r>
              <a:rPr lang="en-IN" b="1" dirty="0"/>
              <a:t>Key Columns:</a:t>
            </a:r>
          </a:p>
          <a:p>
            <a:r>
              <a:rPr lang="en-IN" dirty="0"/>
              <a:t>Drug Name</a:t>
            </a:r>
          </a:p>
          <a:p>
            <a:r>
              <a:rPr lang="en-IN" dirty="0"/>
              <a:t>Medical Condition</a:t>
            </a:r>
          </a:p>
          <a:p>
            <a:r>
              <a:rPr lang="en-IN" dirty="0"/>
              <a:t>Side Effects</a:t>
            </a:r>
          </a:p>
          <a:p>
            <a:r>
              <a:rPr lang="en-IN" dirty="0"/>
              <a:t>Drug Class</a:t>
            </a:r>
          </a:p>
          <a:p>
            <a:r>
              <a:rPr lang="en-IN" dirty="0"/>
              <a:t>Rx/OTC Category</a:t>
            </a:r>
          </a:p>
          <a:p>
            <a:r>
              <a:rPr lang="en-IN" dirty="0"/>
              <a:t>Rating &amp; Reviews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183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8056-CF27-5C8D-DDE5-6D7C5395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55C43-CA7E-CA36-5E03-9DCFEA410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Steps Performed</a:t>
            </a:r>
          </a:p>
          <a:p>
            <a:r>
              <a:rPr lang="en-US" dirty="0"/>
              <a:t>Checked missing values across all columns</a:t>
            </a:r>
          </a:p>
          <a:p>
            <a:r>
              <a:rPr lang="en-US" dirty="0"/>
              <a:t>Filled null values in:</a:t>
            </a:r>
          </a:p>
          <a:p>
            <a:pPr lvl="1"/>
            <a:r>
              <a:rPr lang="en-US" dirty="0"/>
              <a:t>Side Effects</a:t>
            </a:r>
          </a:p>
          <a:p>
            <a:pPr lvl="1"/>
            <a:r>
              <a:rPr lang="en-US" dirty="0"/>
              <a:t>Alcohol Interaction</a:t>
            </a:r>
          </a:p>
          <a:p>
            <a:pPr lvl="1"/>
            <a:r>
              <a:rPr lang="en-US" dirty="0"/>
              <a:t>Ratings &amp; Reviews</a:t>
            </a:r>
          </a:p>
          <a:p>
            <a:r>
              <a:rPr lang="en-US" dirty="0"/>
              <a:t>Converted rating and review columns into numeric format</a:t>
            </a:r>
          </a:p>
          <a:p>
            <a:r>
              <a:rPr lang="en-US" dirty="0"/>
              <a:t>Prepared dataset for analysis and visualization</a:t>
            </a:r>
          </a:p>
          <a:p>
            <a:r>
              <a:rPr lang="en-US" dirty="0"/>
              <a:t>Outcome: Dataset became clean and ready for EDA.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1662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5C5B-A530-F604-3716-1E19E577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Rating Distribution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40E95-9C13-DD40-3FF9-EDAF424E8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Visualization: Histogram of Drug Ratings</a:t>
            </a:r>
          </a:p>
          <a:p>
            <a:r>
              <a:rPr lang="en-US" dirty="0"/>
              <a:t>Most drug ratings fall between </a:t>
            </a:r>
            <a:r>
              <a:rPr lang="en-US" b="1" dirty="0"/>
              <a:t>6 and 8</a:t>
            </a:r>
            <a:endParaRPr lang="en-US" dirty="0"/>
          </a:p>
          <a:p>
            <a:r>
              <a:rPr lang="en-US" dirty="0"/>
              <a:t>Very few drugs have extremely low ratings</a:t>
            </a:r>
          </a:p>
          <a:p>
            <a:r>
              <a:rPr lang="en-US" dirty="0"/>
              <a:t>Ratings indicate overall user satisfaction and effectiveness</a:t>
            </a:r>
          </a:p>
          <a:p>
            <a:r>
              <a:rPr lang="en-US" dirty="0"/>
              <a:t> Insight: Majority of drugs are moderately to highly rated.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A89CA-726C-05AE-7970-DF6B9E7CE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354" y="401586"/>
            <a:ext cx="4534680" cy="302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FFFF-CEA4-1F44-60A6-0C11D9AB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 Medical Conditions Treated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F85DE-6D95-A7A2-1815-672D912C2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Visualization: Bar Chart of Most Common Conditions</a:t>
            </a:r>
          </a:p>
          <a:p>
            <a:r>
              <a:rPr lang="en-US" dirty="0"/>
              <a:t>Top conditions with highest drug availability:</a:t>
            </a:r>
          </a:p>
          <a:p>
            <a:r>
              <a:rPr lang="en-US" dirty="0"/>
              <a:t>Pain</a:t>
            </a:r>
          </a:p>
          <a:p>
            <a:r>
              <a:rPr lang="en-US" dirty="0"/>
              <a:t>Colds &amp; Flu</a:t>
            </a:r>
          </a:p>
          <a:p>
            <a:r>
              <a:rPr lang="en-US" dirty="0"/>
              <a:t>Acne</a:t>
            </a:r>
          </a:p>
          <a:p>
            <a:r>
              <a:rPr lang="en-US" dirty="0"/>
              <a:t>Hypertension</a:t>
            </a:r>
          </a:p>
          <a:p>
            <a:r>
              <a:rPr lang="en-US" dirty="0"/>
              <a:t>Osteoarthritis</a:t>
            </a:r>
          </a:p>
          <a:p>
            <a:pPr marL="0" indent="0">
              <a:buNone/>
            </a:pPr>
            <a:r>
              <a:rPr lang="en-US" dirty="0"/>
              <a:t> Insight: Common chronic and lifestyle diseases dominate the dataset.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944D3C-3DE1-7543-F56C-8F6E5EF97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832" y="2339603"/>
            <a:ext cx="4409433" cy="303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51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49CBE-4114-3890-F743-CEE5B17BC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Side Effects Frequency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03A1B-729D-C047-71D6-89B37BAFB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Visualization: Most Common Side Effects</a:t>
            </a:r>
          </a:p>
          <a:p>
            <a:r>
              <a:rPr lang="en-US" dirty="0"/>
              <a:t>Top reported side effects include:</a:t>
            </a:r>
          </a:p>
          <a:p>
            <a:r>
              <a:rPr lang="en-US" dirty="0"/>
              <a:t>Hives</a:t>
            </a:r>
          </a:p>
          <a:p>
            <a:r>
              <a:rPr lang="en-US" dirty="0"/>
              <a:t>Difficulty breathing</a:t>
            </a:r>
          </a:p>
          <a:p>
            <a:r>
              <a:rPr lang="en-US" dirty="0"/>
              <a:t>Itching</a:t>
            </a:r>
          </a:p>
          <a:p>
            <a:r>
              <a:rPr lang="en-US" dirty="0"/>
              <a:t>Skin rash</a:t>
            </a:r>
          </a:p>
          <a:p>
            <a:r>
              <a:rPr lang="en-US" dirty="0"/>
              <a:t>Swelling</a:t>
            </a:r>
          </a:p>
          <a:p>
            <a:pPr marL="0" indent="0">
              <a:buNone/>
            </a:pPr>
            <a:r>
              <a:rPr lang="en-US" dirty="0"/>
              <a:t>Insight: Allergic reactions are among the most frequent adverse effects.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8BE566-2F62-92B3-8778-2D4F8F7DC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684" y="1324897"/>
            <a:ext cx="4729316" cy="416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76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406D1-FAB5-BCAC-ABE9-928881D64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Rx vs OTC Drug Category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02FBB-123B-D927-9204-3DB70745C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Visualization: Prescription vs Over-the-Counter Distribution</a:t>
            </a:r>
          </a:p>
          <a:p>
            <a:r>
              <a:rPr lang="en-IN" dirty="0"/>
              <a:t>Majority of drugs are </a:t>
            </a:r>
            <a:r>
              <a:rPr lang="en-IN" b="1" dirty="0"/>
              <a:t>Prescription (Rx)</a:t>
            </a:r>
            <a:endParaRPr lang="en-IN" dirty="0"/>
          </a:p>
          <a:p>
            <a:r>
              <a:rPr lang="en-IN" dirty="0"/>
              <a:t>OTC drugs form a smaller portion</a:t>
            </a:r>
          </a:p>
          <a:p>
            <a:pPr marL="0" indent="0">
              <a:buNone/>
            </a:pPr>
            <a:r>
              <a:rPr lang="en-IN" dirty="0"/>
              <a:t> Insight: Conditions like pain, hypertension, and cancer rely heavily on Rx drugs.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7B7DA-8BBE-03E7-6DB6-5CF440355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860" y="3827667"/>
            <a:ext cx="5329772" cy="292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1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545B3-767E-92B3-667E-A5E0A5FB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Drug Class &amp; Safety Indicators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60708-7AF7-E018-40F0-468C8F6C0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Analysis Covered</a:t>
            </a:r>
          </a:p>
          <a:p>
            <a:r>
              <a:rPr lang="en-IN" dirty="0"/>
              <a:t>Drug class distribution (Antihistamines, Steroids, Antibiotics)</a:t>
            </a:r>
          </a:p>
          <a:p>
            <a:r>
              <a:rPr lang="en-IN" dirty="0"/>
              <a:t>Pregnancy risk categories (A, B, C, D, X)</a:t>
            </a:r>
          </a:p>
          <a:p>
            <a:r>
              <a:rPr lang="en-IN" dirty="0"/>
              <a:t>Controlled Substances Act (CSA schedules)</a:t>
            </a:r>
          </a:p>
          <a:p>
            <a:r>
              <a:rPr lang="en-IN" dirty="0"/>
              <a:t>Alcohol interaction warnings</a:t>
            </a:r>
          </a:p>
          <a:p>
            <a:pPr marL="0" indent="0">
              <a:buNone/>
            </a:pPr>
            <a:r>
              <a:rPr lang="en-IN" dirty="0"/>
              <a:t> Insight: Safety indicators are crucial for patient-specific prescribing.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4684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91B9-8F87-05D2-DB87-D8D92433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CORRLEATION HEATMAP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186F38-0F47-E000-0BEA-0B99FCD58B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9969" y="1776463"/>
            <a:ext cx="62385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01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84B2-65C0-C378-84B3-45619286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&amp; 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32D75-06E4-1793-92D5-482381C82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Conclusion</a:t>
            </a:r>
          </a:p>
          <a:p>
            <a:r>
              <a:rPr lang="en-US" dirty="0"/>
              <a:t>This project successfully explored relationships between:</a:t>
            </a:r>
          </a:p>
          <a:p>
            <a:r>
              <a:rPr lang="en-US" dirty="0"/>
              <a:t>Drugs</a:t>
            </a:r>
          </a:p>
          <a:p>
            <a:r>
              <a:rPr lang="en-US" dirty="0"/>
              <a:t>Medical conditions</a:t>
            </a:r>
          </a:p>
          <a:p>
            <a:r>
              <a:rPr lang="en-US" dirty="0"/>
              <a:t>Side effects</a:t>
            </a:r>
          </a:p>
          <a:p>
            <a:r>
              <a:rPr lang="en-US" dirty="0"/>
              <a:t>Ratings and safety categories</a:t>
            </a:r>
          </a:p>
          <a:p>
            <a:pPr marL="0" indent="0">
              <a:buNone/>
            </a:pPr>
            <a:r>
              <a:rPr lang="en-US" b="1" dirty="0"/>
              <a:t>Future Enhancements</a:t>
            </a:r>
          </a:p>
          <a:p>
            <a:r>
              <a:rPr lang="en-US" dirty="0"/>
              <a:t>Predict drug ratings using Machine Learning</a:t>
            </a:r>
          </a:p>
          <a:p>
            <a:r>
              <a:rPr lang="en-US" dirty="0"/>
              <a:t>Side effect severity classification using NLP</a:t>
            </a:r>
          </a:p>
          <a:p>
            <a:r>
              <a:rPr lang="en-US" dirty="0"/>
              <a:t>Dashboard development using Power BI/Tableau</a:t>
            </a:r>
          </a:p>
          <a:p>
            <a:r>
              <a:rPr lang="en-US" dirty="0"/>
              <a:t>Drug recommendation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326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449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Drugs, Side Effects and Medical Condition arrow_drop_up</vt:lpstr>
      <vt:lpstr>Project Objective</vt:lpstr>
      <vt:lpstr>Dataset Overview</vt:lpstr>
      <vt:lpstr>Data Cleaning Process</vt:lpstr>
      <vt:lpstr>Rating Distribution Analysis</vt:lpstr>
      <vt:lpstr>Top Medical Conditions Treated</vt:lpstr>
      <vt:lpstr>Side Effects Frequency Analysis</vt:lpstr>
      <vt:lpstr>Rx vs OTC Drug Category</vt:lpstr>
      <vt:lpstr>Drug Class &amp; Safety Indicators</vt:lpstr>
      <vt:lpstr>CORRLEATION HEATMAP 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Gayatri Kulkarni</dc:creator>
  <cp:lastModifiedBy>Gayatri Kulkarni</cp:lastModifiedBy>
  <cp:revision>1</cp:revision>
  <dcterms:created xsi:type="dcterms:W3CDTF">2026-02-07T14:38:31Z</dcterms:created>
  <dcterms:modified xsi:type="dcterms:W3CDTF">2026-02-07T14:52:32Z</dcterms:modified>
</cp:coreProperties>
</file>